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solidFill>
            <a:srgbClr val="FFFFFF"/>
          </a:solidFill>
          <a:ln w="2540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44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7365D"/>
                </a:solidFill>
                <a:latin typeface="Times New Roman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sz="1100" b="1" i="0">
                <a:solidFill>
                  <a:srgbClr val="17365D"/>
                </a:solidFill>
                <a:latin typeface="Times New Roman"/>
              </a:rPr>
              <a:t>ФГАОУ ВО «КАЗАНСКИЙ (ПРИВОЛЖСКИЙ) ФЕДЕРАЛЬНЫЙ УНИВЕРСИТЕТ»</a:t>
            </a:r>
          </a:p>
          <a:p>
            <a:pPr algn="ctr"/>
            <a:r>
              <a:rPr sz="1100" b="1" i="0">
                <a:solidFill>
                  <a:srgbClr val="17365D"/>
                </a:solidFill>
                <a:latin typeface="Times New Roman"/>
              </a:rPr>
              <a:t>ИНСТИТУТ УПРАВЛЕНИЯ, ЭКОНОМИКИ И ФИНАНСОВ</a:t>
            </a:r>
          </a:p>
          <a:p>
            <a:pPr algn="ctr"/>
            <a:r>
              <a:rPr sz="1100" b="0" i="1">
                <a:solidFill>
                  <a:srgbClr val="17365D"/>
                </a:solidFill>
                <a:latin typeface="Times New Roman"/>
              </a:rPr>
              <a:t>Кафедра инноваций и инвестиций</a:t>
            </a:r>
          </a:p>
          <a:p>
            <a:pPr algn="ctr"/>
            <a:r>
              <a:rPr sz="1000" b="0" i="1">
                <a:solidFill>
                  <a:srgbClr val="595959"/>
                </a:solidFill>
                <a:latin typeface="Times New Roman"/>
              </a:rPr>
              <a:t>Направление 38.03.02 «Менеджмент» · Профиль «Бизнес-аналитика в управленческой деятельности»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8534095" cy="36576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10944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17365D"/>
                </a:solidFill>
                <a:latin typeface="Times New Roman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7365D"/>
                </a:solidFill>
                <a:latin typeface="Times New Roman"/>
              </a:rPr>
              <a:t>МОДЕЛИРОВАНИЕ И ОПТИМИЗАЦИЯ
БИЗНЕС-ПРОЦЕССОВ В ДЕВЕЛОПЕРСКОЙ КОМПАНИИ</a:t>
            </a:r>
          </a:p>
          <a:p>
            <a:pPr algn="ctr"/>
            <a:r>
              <a:rPr sz="1800" b="0" i="1">
                <a:solidFill>
                  <a:srgbClr val="2E5A8C"/>
                </a:solidFill>
                <a:latin typeface="Times New Roman"/>
              </a:rPr>
              <a:t>(на примере АО «Унистрой»)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4297680"/>
            <a:ext cx="9814255" cy="36576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434840"/>
            <a:ext cx="94484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Выполнил(а): _______________________________________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01010"/>
                </a:solidFill>
                <a:latin typeface="Times New Roman"/>
              </a:rPr>
              <a:t>Группа: _______________</a:t>
            </a:r>
          </a:p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Научный руководитель: ___________________________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7365D"/>
                </a:solidFill>
                <a:latin typeface="Times New Roman"/>
              </a:rPr>
              <a:t>Казань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АКТУАЛЬНОСТЬ ИССЛЕДОВАНИЯ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6017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Times New Roman"/>
              </a:rPr>
              <a:t>Девелопменту нужны прозрачные и оптимизированные бизнес-процессы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2182307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2182307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2182307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+2,5%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103120"/>
            <a:ext cx="203600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рост строительной отрасли РФ
в 2025 г. — минимум за 5 лет
(в 2023 г. было +7,4%)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5227" y="1051560"/>
            <a:ext cx="2182307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85227" y="1097280"/>
            <a:ext cx="2182307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227" y="1508760"/>
            <a:ext cx="2182307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14,5%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8379" y="2103120"/>
            <a:ext cx="203600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ключевая ставка ЦБ (май 2026)
→ ипотека до 24,9% годовых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4694" y="1051560"/>
            <a:ext cx="2182307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4694" y="1097280"/>
            <a:ext cx="2182307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4694" y="1508760"/>
            <a:ext cx="2182307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−29%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7846" y="2103120"/>
            <a:ext cx="203600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объём выданной ипотеки
в Республике Татарстан
за 2025 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161" y="1051560"/>
            <a:ext cx="2182307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24161" y="1097280"/>
            <a:ext cx="2182307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4161" y="1508760"/>
            <a:ext cx="2182307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149,6%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7313" y="2103120"/>
            <a:ext cx="203600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соотношение незавершённого
строительства к годовому вводу
(было 106,8%)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3628" y="1051560"/>
            <a:ext cx="2182307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3628" y="1097280"/>
            <a:ext cx="2182307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3628" y="1508760"/>
            <a:ext cx="2182307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30–60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2103120"/>
            <a:ext cx="203600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минут в день теряет сотрудник
«Унистроя» на ручной перенос
данных между 3 системами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749039"/>
            <a:ext cx="11460175" cy="36576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3977639"/>
            <a:ext cx="5592927" cy="2468880"/>
          </a:xfrm>
          <a:prstGeom prst="roundRect">
            <a:avLst>
              <a:gd name="adj" fmla="val 10000"/>
            </a:avLst>
          </a:prstGeom>
          <a:solidFill>
            <a:srgbClr val="E7EBF1"/>
          </a:solidFill>
          <a:ln w="1270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7365D"/>
                </a:solidFill>
                <a:latin typeface="Times New Roman"/>
              </a:rPr>
              <a:t>ФЕДЕРАЛЬНЫЙ КОНТЕКСТ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01010"/>
                </a:solidFill>
                <a:latin typeface="Times New Roman"/>
              </a:rPr>
              <a:t>• Замедление прироста отрасли · падение ипотеки · накопление нераспроданных квартир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01010"/>
                </a:solidFill>
                <a:latin typeface="Times New Roman"/>
              </a:rPr>
              <a:t>• Распроданность строящегося жилья:  31–32%  (было 50–55%)</a:t>
            </a:r>
          </a:p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• Цена м² Казань (новостройка): 265 тыс. ₽  (×1,5 за 3 года)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977639"/>
            <a:ext cx="5592927" cy="246888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270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ВНУТРЕННИЕ ПРОЦЕССЫ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• 3 параллельных системы документооборота: СБИС + 1С: ДО + бумага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• Согласование сметы вручную в Excel — до 5 дней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Times New Roman"/>
              </a:rPr>
              <a:t>• Письма удорожания зависают до 7 дней — срывы поставок и штрафы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51560"/>
            <a:ext cx="11460175" cy="14173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ЦЕЛЬ</a:t>
            </a:r>
          </a:p>
          <a:p>
            <a:pPr algn="l"/>
            <a:r>
              <a:rPr sz="1800" b="1" i="0">
                <a:solidFill>
                  <a:srgbClr val="FFFFFF"/>
                </a:solidFill>
                <a:latin typeface="Times New Roman"/>
              </a:rPr>
              <a:t>Изучение теоретических основ моделирования и оптимизации
бизнес-процессов в девелопменте и их практическое применение
в деятельности АО «Унистрой».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06040"/>
            <a:ext cx="1146017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7365D"/>
                </a:solidFill>
                <a:latin typeface="Times New Roman"/>
              </a:rPr>
              <a:t>ЗАДАЧИ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063240"/>
            <a:ext cx="2182307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1153" y="3291840"/>
            <a:ext cx="731520" cy="73152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1999427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101010"/>
                </a:solidFill>
                <a:latin typeface="Times New Roman"/>
              </a:rPr>
              <a:t>Систематизировать
теоретические подходы
к моделированию
бизнес-процессов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5227" y="3063240"/>
            <a:ext cx="2182307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10620" y="3291840"/>
            <a:ext cx="731520" cy="73152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6667" y="4160520"/>
            <a:ext cx="1999427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101010"/>
                </a:solidFill>
                <a:latin typeface="Times New Roman"/>
              </a:rPr>
              <a:t>Проанализировать
строительную отрасль
РФ и Татарстана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4694" y="3063240"/>
            <a:ext cx="2182307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30087" y="3291840"/>
            <a:ext cx="731520" cy="73152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4160520"/>
            <a:ext cx="1999427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101010"/>
                </a:solidFill>
                <a:latin typeface="Times New Roman"/>
              </a:rPr>
              <a:t>Дать организационно-
экономическую
характеристику
АО «Унистрой»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4161" y="3063240"/>
            <a:ext cx="2182307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9554" y="3291840"/>
            <a:ext cx="731520" cy="73152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601" y="4160520"/>
            <a:ext cx="1999427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101010"/>
                </a:solidFill>
                <a:latin typeface="Times New Roman"/>
              </a:rPr>
              <a:t>Провести диагностику
бизнес-процессов
компании, выявить
«узкие места»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3628" y="3063240"/>
            <a:ext cx="2182307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369021" y="3291840"/>
            <a:ext cx="731520" cy="73152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5068" y="4160520"/>
            <a:ext cx="1999427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101010"/>
                </a:solidFill>
                <a:latin typeface="Times New Roman"/>
              </a:rPr>
              <a:t>Разработать решения
и оценить их
экономическую
эффективность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ГЛАВА 1. ТЕОРЕТИЧЕСКИЕ ОСНОВЫ МОДЕЛИРОВАНИЯ БИЗНЕС-ПРОЦЕССОВ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5669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Бизнес-процесс = преобразование ресурсов в ценность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17365D"/>
                </a:solidFill>
                <a:latin typeface="Times New Roman"/>
              </a:rPr>
              <a:t>ВХОДЫ</a:t>
            </a:r>
          </a:p>
          <a:p>
            <a:pPr algn="ctr"/>
            <a:r>
              <a:rPr sz="1100" b="0" i="1">
                <a:solidFill>
                  <a:srgbClr val="595959"/>
                </a:solidFill>
                <a:latin typeface="Times New Roman"/>
              </a:rPr>
              <a:t>ресурсы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371600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ПРОЦЕСС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преобразование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371600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17365D"/>
                </a:solidFill>
                <a:latin typeface="Times New Roman"/>
              </a:rPr>
              <a:t>ВЫХОДЫ</a:t>
            </a:r>
          </a:p>
          <a:p>
            <a:pPr algn="ctr"/>
            <a:r>
              <a:rPr sz="1100" b="0" i="1">
                <a:solidFill>
                  <a:srgbClr val="595959"/>
                </a:solidFill>
                <a:latin typeface="Times New Roman"/>
              </a:rPr>
              <a:t>ценность для клиента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16252" y="1737360"/>
            <a:ext cx="91440" cy="182880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753612" y="1737360"/>
            <a:ext cx="91440" cy="182880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14600"/>
            <a:ext cx="5669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Классификация процессов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26080"/>
            <a:ext cx="1783080" cy="11887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ОСНОВНЫЕ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ценность для клиента
проектирование · стройка · продажи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0280" y="2926080"/>
            <a:ext cx="1783080" cy="1188720"/>
          </a:xfrm>
          <a:prstGeom prst="roundRect">
            <a:avLst>
              <a:gd name="adj" fmla="val 10000"/>
            </a:avLst>
          </a:prstGeom>
          <a:solidFill>
            <a:srgbClr val="2E5A8C"/>
          </a:solidFill>
          <a:ln w="9525">
            <a:solidFill>
              <a:srgbClr val="2E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ВСПОМОГАТЕЛЬНЫЕ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поддержка
HR · юристы ·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926080"/>
            <a:ext cx="1783080" cy="11887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УПРАВЛЕНЧЕСКИЕ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координация
бюджет · стратегия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960120"/>
            <a:ext cx="539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Нотации моделирования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371600"/>
            <a:ext cx="5394960" cy="50292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Нотация       Уровень       Сильная сторона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874520"/>
            <a:ext cx="5394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7452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IDEF0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187452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верхний уровень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187452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архитектура функций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31720"/>
            <a:ext cx="5394960" cy="457200"/>
          </a:xfrm>
          <a:prstGeom prst="rect">
            <a:avLst/>
          </a:prstGeom>
          <a:solidFill>
            <a:srgbClr val="E7EBF1"/>
          </a:solidFill>
          <a:ln w="63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33172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BPMN 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3172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детальный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3172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логика, ветвления, ответственность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788920"/>
            <a:ext cx="5394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78892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EPC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78892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средний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78892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01010"/>
                </a:solidFill>
                <a:latin typeface="Times New Roman"/>
              </a:rPr>
              <a:t>событие → функция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749039"/>
            <a:ext cx="539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Платформы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60520"/>
            <a:ext cx="1280160" cy="9601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ARIS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4160520"/>
            <a:ext cx="1280160" cy="9601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Bizagi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4160520"/>
            <a:ext cx="1280160" cy="9601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MS Visio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15600" y="4160520"/>
            <a:ext cx="1280160" cy="960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Stormbpmn
★ отеч., Минцифры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989320"/>
            <a:ext cx="11460175" cy="50292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989320"/>
            <a:ext cx="112772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ВЫВОД ПО ГЛАВЕ 1: для девелопмента оптимально BPMN 2.0 + Stormbpmn (импортозамещение)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ГЛАВА 2. АНАЛИЗ ОТРАСЛИ И ТИПОВЫХ БИЗНЕС-ПРОЦЕССОВ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5669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Россия —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3487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18,82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423160"/>
            <a:ext cx="120243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трлн ₽
объём работ (+2,5%)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05940" y="1371600"/>
            <a:ext cx="13487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05940" y="1417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5940" y="1828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108,1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9092" y="2423160"/>
            <a:ext cx="120243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млн м²
ввод жилья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371600"/>
            <a:ext cx="13487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417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1828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31–32%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9272" y="2423160"/>
            <a:ext cx="120243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распроданность
строящихся домов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86300" y="1371600"/>
            <a:ext cx="13487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300" y="1417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6300" y="1828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−29%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9452" y="2423160"/>
            <a:ext cx="120243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ипотека к 2024 г.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960120"/>
            <a:ext cx="539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Татарстан / Казань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371600"/>
            <a:ext cx="1280160" cy="169164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3,515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млн м²
ввод жилья РТ (+8% — рекорд)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1389888"/>
            <a:ext cx="1243584" cy="165506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3,515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млн м²
ввод жилья РТ (+8% — рекорд)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1371600"/>
            <a:ext cx="1280160" cy="169164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265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тыс. ₽ за м²
Казань — ×1,5 за 3 года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90688" y="1389888"/>
            <a:ext cx="1243584" cy="165506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455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тыс. ₽ за м²
Казань — ×1,5 за 3 года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1371600"/>
            <a:ext cx="1280160" cy="169164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32%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доля федералов
в Казани (было 18%)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62288" y="1389888"/>
            <a:ext cx="1243584" cy="165506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32%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171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доля федералов
в Казани (было 18%)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15600" y="1371600"/>
            <a:ext cx="1280160" cy="169164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887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место РТ в РФ
по доступности жилья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33888" y="1389888"/>
            <a:ext cx="1243584" cy="165506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0" y="141732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1828800"/>
            <a:ext cx="1280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88752" y="2423160"/>
            <a:ext cx="113385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место РТ в РФ
по доступности жилья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246120"/>
            <a:ext cx="1146017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Жизненный цикл девелоперского проекта</a:t>
            </a:r>
          </a:p>
        </p:txBody>
      </p:sp>
      <p:sp>
        <p:nvSpPr>
          <p:cNvPr id="57" name="Pentagon 56"/>
          <p:cNvSpPr/>
          <p:nvPr/>
        </p:nvSpPr>
        <p:spPr>
          <a:xfrm>
            <a:off x="365760" y="3657600"/>
            <a:ext cx="2218883" cy="640080"/>
          </a:xfrm>
          <a:prstGeom prst="homePlat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Инициация</a:t>
            </a:r>
          </a:p>
        </p:txBody>
      </p:sp>
      <p:sp>
        <p:nvSpPr>
          <p:cNvPr id="58" name="Pentagon 57"/>
          <p:cNvSpPr/>
          <p:nvPr/>
        </p:nvSpPr>
        <p:spPr>
          <a:xfrm>
            <a:off x="2676083" y="3657600"/>
            <a:ext cx="2218883" cy="640080"/>
          </a:xfrm>
          <a:prstGeom prst="homePlate">
            <a:avLst/>
          </a:prstGeom>
          <a:solidFill>
            <a:srgbClr val="2E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Проектирование</a:t>
            </a:r>
          </a:p>
        </p:txBody>
      </p:sp>
      <p:sp>
        <p:nvSpPr>
          <p:cNvPr id="59" name="Pentagon 58"/>
          <p:cNvSpPr/>
          <p:nvPr/>
        </p:nvSpPr>
        <p:spPr>
          <a:xfrm>
            <a:off x="4986406" y="3657600"/>
            <a:ext cx="2218883" cy="640080"/>
          </a:xfrm>
          <a:prstGeom prst="homePlat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Строительство</a:t>
            </a:r>
          </a:p>
        </p:txBody>
      </p:sp>
      <p:sp>
        <p:nvSpPr>
          <p:cNvPr id="60" name="Pentagon 59"/>
          <p:cNvSpPr/>
          <p:nvPr/>
        </p:nvSpPr>
        <p:spPr>
          <a:xfrm>
            <a:off x="7296729" y="3657600"/>
            <a:ext cx="2218883" cy="640080"/>
          </a:xfrm>
          <a:prstGeom prst="homePlate">
            <a:avLst/>
          </a:prstGeom>
          <a:solidFill>
            <a:srgbClr val="2E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Продажи</a:t>
            </a:r>
          </a:p>
        </p:txBody>
      </p:sp>
      <p:sp>
        <p:nvSpPr>
          <p:cNvPr id="61" name="Pentagon 60"/>
          <p:cNvSpPr/>
          <p:nvPr/>
        </p:nvSpPr>
        <p:spPr>
          <a:xfrm>
            <a:off x="9607052" y="3657600"/>
            <a:ext cx="2218883" cy="640080"/>
          </a:xfrm>
          <a:prstGeom prst="homePlat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Ввод в эксплуатацию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4526280"/>
            <a:ext cx="1146017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Методы оптимизации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5760" y="4937760"/>
            <a:ext cx="221888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17365D"/>
                </a:solidFill>
                <a:latin typeface="Times New Roman"/>
              </a:rPr>
              <a:t>Стандарти-
зация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76083" y="4937760"/>
            <a:ext cx="221888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17365D"/>
                </a:solidFill>
                <a:latin typeface="Times New Roman"/>
              </a:rPr>
              <a:t>Параллельные
процессы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86406" y="4937760"/>
            <a:ext cx="221888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17365D"/>
                </a:solidFill>
                <a:latin typeface="Times New Roman"/>
              </a:rPr>
              <a:t>Электронный
документооборот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96729" y="4937760"/>
            <a:ext cx="221888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17365D"/>
                </a:solidFill>
                <a:latin typeface="Times New Roman"/>
              </a:rPr>
              <a:t>Цифровой
контроль
подрядчиков (BIM)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07052" y="4937760"/>
            <a:ext cx="221888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200" b="1" i="0">
                <a:solidFill>
                  <a:srgbClr val="17365D"/>
                </a:solidFill>
                <a:latin typeface="Times New Roman"/>
              </a:rPr>
              <a:t>Управление
рассрочками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080760"/>
            <a:ext cx="11460175" cy="41148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ВЫВОД ПО ГЛАВЕ 2: РФ в стагнации, РТ +8% — но 32% Казани заняли федералы → процессная зрелость = условие выживания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ГЛАВА 3. АО «УНИСТРОЙ» — ОРГАНИЗАЦИОННО-ЭКОНОМИЧЕСКАЯ ХАРАКТЕРИСТИКА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6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2796463" cy="2103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1996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057400"/>
            <a:ext cx="26501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год основания
бренд в составе G-Group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24128"/>
            <a:ext cx="2759887" cy="206654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Times New Roman"/>
              </a:rPr>
              <a:t>1996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03120"/>
            <a:ext cx="265015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год основания
бренд в составе G-Group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3663" y="1005840"/>
            <a:ext cx="2796463" cy="2103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3663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3663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26815" y="2057400"/>
            <a:ext cx="26501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городов присутствия
Казань · СПб · Екатеринбург ·
Пермь · Уфа · Тольятти ·
Махачкала · Н.Новгород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1951" y="1024128"/>
            <a:ext cx="2759887" cy="206654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53663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3663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6815" y="2103120"/>
            <a:ext cx="265015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городов присутствия
Казань · СПб · Екатеринбург ·
Пермь · Уфа · Тольятти ·
Махачкала · Н.Новгород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7" y="1005840"/>
            <a:ext cx="2796463" cy="2103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1567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567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2,4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4719" y="2057400"/>
            <a:ext cx="26501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млн м²
построено / 42 тыс. семей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59855" y="1024128"/>
            <a:ext cx="2759887" cy="206654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1567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41567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Times New Roman"/>
              </a:rPr>
              <a:t>2,4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4719" y="2103120"/>
            <a:ext cx="265015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млн м²
построено / 42 тыс. семей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29471" y="1005840"/>
            <a:ext cx="2796463" cy="2103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9471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29471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Times New Roman"/>
              </a:rPr>
              <a:t>&gt;400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2623" y="2057400"/>
            <a:ext cx="26501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сотрудников
(271 — управляющая
компания)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47759" y="1024128"/>
            <a:ext cx="2759887" cy="2066544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9471" y="1051560"/>
            <a:ext cx="2796463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Times New Roman"/>
              </a:rPr>
              <a:t>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29471" y="1463040"/>
            <a:ext cx="279646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Times New Roman"/>
              </a:rPr>
              <a:t>&gt;400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2623" y="2103120"/>
            <a:ext cx="265015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imes New Roman"/>
              </a:rPr>
              <a:t>сотрудников
(271 — управляющая
компания)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Финансовые показатели 2025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3657600"/>
            <a:ext cx="134874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703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114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43,9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" y="4709160"/>
            <a:ext cx="12024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млрд ₽ выручка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7210" y="5257800"/>
            <a:ext cx="1005840" cy="320040"/>
          </a:xfrm>
          <a:prstGeom prst="roundRect">
            <a:avLst>
              <a:gd name="adj" fmla="val 10000"/>
            </a:avLst>
          </a:prstGeom>
          <a:solidFill>
            <a:srgbClr val="3F884A"/>
          </a:solidFill>
          <a:ln w="9525">
            <a:solidFill>
              <a:srgbClr val="3F8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▲ +26%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05940" y="3657600"/>
            <a:ext cx="134874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05940" y="3703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05940" y="4114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11,1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9092" y="4709160"/>
            <a:ext cx="12024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млрд ₽ EBITDA
(рентаб. 25,2%)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77390" y="5257800"/>
            <a:ext cx="1005840" cy="320040"/>
          </a:xfrm>
          <a:prstGeom prst="roundRect">
            <a:avLst>
              <a:gd name="adj" fmla="val 10000"/>
            </a:avLst>
          </a:prstGeom>
          <a:solidFill>
            <a:srgbClr val="C0504D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▼ с 31,2%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46120" y="3657600"/>
            <a:ext cx="134874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46120" y="3703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4114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2,4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19272" y="4709160"/>
            <a:ext cx="12024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млрд ₽ чистая прибыль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17570" y="5257800"/>
            <a:ext cx="1005840" cy="320040"/>
          </a:xfrm>
          <a:prstGeom prst="roundRect">
            <a:avLst>
              <a:gd name="adj" fmla="val 10000"/>
            </a:avLst>
          </a:prstGeom>
          <a:solidFill>
            <a:srgbClr val="C0504D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▼ −47%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686300" y="3657600"/>
            <a:ext cx="134874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86300" y="3703320"/>
            <a:ext cx="13487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 i="0">
                <a:solidFill>
                  <a:srgbClr val="17365D"/>
                </a:solidFill>
                <a:latin typeface="Times New Roman"/>
              </a:rPr>
              <a:t>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86300" y="4114800"/>
            <a:ext cx="13487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7365D"/>
                </a:solidFill>
                <a:latin typeface="Times New Roman"/>
              </a:rPr>
              <a:t>2,79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59452" y="4709160"/>
            <a:ext cx="12024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Долг / EBITDA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7750" y="5257800"/>
            <a:ext cx="1005840" cy="320040"/>
          </a:xfrm>
          <a:prstGeom prst="roundRect">
            <a:avLst>
              <a:gd name="adj" fmla="val 10000"/>
            </a:avLst>
          </a:prstGeom>
          <a:solidFill>
            <a:srgbClr val="C0504D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</a:rPr>
              <a:t>▲ рост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3246120"/>
            <a:ext cx="539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Позиции компании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0" y="3657600"/>
            <a:ext cx="1737360" cy="2011680"/>
          </a:xfrm>
          <a:prstGeom prst="roundRect">
            <a:avLst>
              <a:gd name="adj" fmla="val 10000"/>
            </a:avLst>
          </a:prstGeom>
          <a:solidFill>
            <a:srgbClr val="E7EBF1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393192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600" b="1" i="0">
                <a:solidFill>
                  <a:srgbClr val="17365D"/>
                </a:solidFill>
                <a:latin typeface="Times New Roman"/>
              </a:rPr>
              <a:t>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0" y="484632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01010"/>
                </a:solidFill>
                <a:latin typeface="Times New Roman"/>
              </a:rPr>
              <a:t>место в РФ
по объёму строительства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3657600"/>
            <a:ext cx="1737360" cy="2011680"/>
          </a:xfrm>
          <a:prstGeom prst="roundRect">
            <a:avLst>
              <a:gd name="adj" fmla="val 10000"/>
            </a:avLst>
          </a:prstGeom>
          <a:solidFill>
            <a:srgbClr val="E7EBF1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393192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600" b="1" i="0">
                <a:solidFill>
                  <a:srgbClr val="17365D"/>
                </a:solidFill>
                <a:latin typeface="Times New Roman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84632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01010"/>
                </a:solidFill>
                <a:latin typeface="Times New Roman"/>
              </a:rPr>
              <a:t>место в Казани
(после «Суварстроит» и ПИК)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058400" y="3657600"/>
            <a:ext cx="1737360" cy="2011680"/>
          </a:xfrm>
          <a:prstGeom prst="roundRect">
            <a:avLst>
              <a:gd name="adj" fmla="val 10000"/>
            </a:avLst>
          </a:prstGeom>
          <a:solidFill>
            <a:srgbClr val="E7EBF1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400" y="393192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600" b="1" i="0">
                <a:solidFill>
                  <a:srgbClr val="17365D"/>
                </a:solidFill>
                <a:latin typeface="Times New Roman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484632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01010"/>
                </a:solidFill>
                <a:latin typeface="Times New Roman"/>
              </a:rPr>
              <a:t>баллов рейтинга ЕРЗ
(соблюдение сроков)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5989320"/>
            <a:ext cx="11460175" cy="50292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989320"/>
            <a:ext cx="112772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Федеральный девелопер · 30 лет на рынке · ТОП-3 в Казани, ТОП-25 в России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ГЛАВА 3. 4 «УЗКИХ МЕСТА» БИЗНЕС-ПРОЦЕССОВ АО «УНИСТРОЙ»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7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2796463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777240" cy="502920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051560"/>
            <a:ext cx="18820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Ручное согласование смет
и писем удорожания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61358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Times New Roman"/>
              </a:rPr>
              <a:t>Excel + почта, без BPM-движка. Передача через нескольких аналитиков.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94560"/>
            <a:ext cx="27964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C0504D"/>
                </a:solidFill>
                <a:latin typeface="Times New Roman"/>
              </a:rPr>
              <a:t>до 5 дней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261358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одна смета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261358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7365D"/>
                </a:solidFill>
                <a:latin typeface="Times New Roman"/>
              </a:rPr>
              <a:t>до 7 дней — письма удорожания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3663" y="1005840"/>
            <a:ext cx="2796463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53663" y="1005840"/>
            <a:ext cx="777240" cy="502920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2343" y="1051560"/>
            <a:ext cx="18820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Децентрализованная база
цен на материалы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5103" y="1600200"/>
            <a:ext cx="261358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Times New Roman"/>
              </a:rPr>
              <a:t>Excel + сетевые папки, 1С: Долстрой не используется.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53663" y="2194560"/>
            <a:ext cx="27964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C0504D"/>
                </a:solidFill>
                <a:latin typeface="Times New Roman"/>
              </a:rPr>
              <a:t>30 мин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5103" y="2697480"/>
            <a:ext cx="261358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поиск 1 позиции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5103" y="2971800"/>
            <a:ext cx="261358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7365D"/>
                </a:solidFill>
                <a:latin typeface="Times New Roman"/>
              </a:rPr>
              <a:t>экономия аналитиков всего 3,6%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567" y="1005840"/>
            <a:ext cx="2796463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1567" y="1005840"/>
            <a:ext cx="777240" cy="502920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0247" y="1051560"/>
            <a:ext cx="18820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Отсутствие гарантии
закупки при запросе КП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007" y="1600200"/>
            <a:ext cx="261358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Times New Roman"/>
              </a:rPr>
              <a:t>Подрядчики, не уверенные в договоре, завышают цены или отказываются.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567" y="2194560"/>
            <a:ext cx="27964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C0504D"/>
                </a:solidFill>
                <a:latin typeface="Times New Roman"/>
              </a:rPr>
              <a:t>+10–15%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007" y="2697480"/>
            <a:ext cx="261358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завышение цен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2971800"/>
            <a:ext cx="261358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7365D"/>
                </a:solidFill>
                <a:latin typeface="Times New Roman"/>
              </a:rPr>
              <a:t>94% неустранённых нарушений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29471" y="1005840"/>
            <a:ext cx="2796463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29471" y="1005840"/>
            <a:ext cx="777240" cy="502920"/>
          </a:xfrm>
          <a:prstGeom prst="rect">
            <a:avLst/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8151" y="1051560"/>
            <a:ext cx="18820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Разорванный
документооборот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0911" y="1600200"/>
            <a:ext cx="261358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Times New Roman"/>
              </a:rPr>
              <a:t>3 параллельных канала: СБИС + 1С: ДО + бумага.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471" y="2194560"/>
            <a:ext cx="27964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C0504D"/>
                </a:solidFill>
                <a:latin typeface="Times New Roman"/>
              </a:rPr>
              <a:t>30–60 мин/день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0911" y="2697480"/>
            <a:ext cx="2613583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01010"/>
                </a:solidFill>
                <a:latin typeface="Times New Roman"/>
              </a:rPr>
              <a:t>потери на сотрудника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911" y="2971800"/>
            <a:ext cx="261358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7365D"/>
                </a:solidFill>
                <a:latin typeface="Times New Roman"/>
              </a:rPr>
              <a:t>тысячи человеко-часов в год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520440"/>
            <a:ext cx="1146017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Кумулятивный эффект потерь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65760" y="3931920"/>
            <a:ext cx="2796463" cy="777240"/>
          </a:xfrm>
          <a:prstGeom prst="rightArrow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Ручной труд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253663" y="3931920"/>
            <a:ext cx="2796463" cy="777240"/>
          </a:xfrm>
          <a:prstGeom prst="rightArrow">
            <a:avLst/>
          </a:prstGeom>
          <a:solidFill>
            <a:srgbClr val="2E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Задержки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141567" y="3931920"/>
            <a:ext cx="2796463" cy="777240"/>
          </a:xfrm>
          <a:prstGeom prst="rightArrow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Срывы поставок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029471" y="3931920"/>
            <a:ext cx="2796463" cy="777240"/>
          </a:xfrm>
          <a:prstGeom prst="rightArrow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Штрафы и удорожание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074920"/>
            <a:ext cx="11460175" cy="1417320"/>
          </a:xfrm>
          <a:prstGeom prst="rect">
            <a:avLst/>
          </a:prstGeom>
          <a:solidFill>
            <a:srgbClr val="E7EBF1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166360"/>
            <a:ext cx="110944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7365D"/>
                </a:solidFill>
                <a:latin typeface="Times New Roman"/>
              </a:rPr>
              <a:t>ОБЩИЙ ДИАГНОЗ</a:t>
            </a:r>
          </a:p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Бизнес-процессы фрагментированы, ключевые операции выполняются вручную, ИТ-системы не интегрированы — это снижает экономическую эффективность и создаёт риск срыва сроков сдачи объектов.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ГЛАВА 3. РЕШЕНИЯ ПО ОПТИМИЗАЦИИ И ЭКОНОМИЧЕСКАЯ ЭФФЕКТИВНОСТЬ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6126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Портфель из 4 взаимоувязанных решений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612648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554480"/>
            <a:ext cx="713232" cy="713232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46304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↻  Сквозной модуль согласования смет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7452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01010"/>
                </a:solidFill>
                <a:latin typeface="Times New Roman"/>
              </a:rPr>
              <a:t>1С: ДО + Stormbpmn — авто-распределение позиций между аналитиками, сметным отделом и закупками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42032"/>
            <a:ext cx="612648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" y="2724912"/>
            <a:ext cx="713232" cy="713232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633472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⧉  Централизованная база цен в 1С: Долстрой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449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01010"/>
                </a:solidFill>
                <a:latin typeface="Times New Roman"/>
              </a:rPr>
              <a:t>API поставщиков (Лемана, Металлоторг, ЭТМ) + победителей «Маркет Унистрой»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12464"/>
            <a:ext cx="612648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3895344"/>
            <a:ext cx="713232" cy="713232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03904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⚑  Регламент гарантированного запроса КП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1538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01010"/>
                </a:solidFill>
                <a:latin typeface="Times New Roman"/>
              </a:rPr>
              <a:t>Двухстадийный: подтверждение закупки до выставления счёта; рейтинг подрядчиков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882896"/>
            <a:ext cx="612648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5065776"/>
            <a:ext cx="713232" cy="713232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74336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⧈  Унификация документооборота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38581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01010"/>
                </a:solidFill>
                <a:latin typeface="Times New Roman"/>
              </a:rPr>
              <a:t>Всё в 1С: ДО + BPM-движок; синхронизация с СБИС через API; бумага — только госорганам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960120"/>
            <a:ext cx="5120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Экономическая эффективность портфеля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137160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1371600"/>
            <a:ext cx="138303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01010"/>
                </a:solidFill>
                <a:latin typeface="Times New Roman"/>
              </a:rPr>
              <a:t>Инвестиции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58150" y="1371600"/>
            <a:ext cx="108585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200" b="1" i="0">
                <a:solidFill>
                  <a:srgbClr val="17365D"/>
                </a:solidFill>
                <a:latin typeface="Times New Roman"/>
              </a:rPr>
              <a:t>6,17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1947672"/>
            <a:ext cx="457200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/>
            <a:r>
              <a:rPr sz="900" b="0" i="1">
                <a:solidFill>
                  <a:srgbClr val="595959"/>
                </a:solidFill>
                <a:latin typeface="Times New Roman"/>
              </a:rPr>
              <a:t>млн 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137160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1371600"/>
            <a:ext cx="138303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01010"/>
                </a:solidFill>
                <a:latin typeface="Times New Roman"/>
              </a:rPr>
              <a:t>Экономия ФОТ/мес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64190" y="1371600"/>
            <a:ext cx="108585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200" b="1" i="0">
                <a:solidFill>
                  <a:srgbClr val="17365D"/>
                </a:solidFill>
                <a:latin typeface="Times New Roman"/>
              </a:rPr>
              <a:t>2,89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92840" y="1947672"/>
            <a:ext cx="457200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/>
            <a:r>
              <a:rPr sz="900" b="0" i="1">
                <a:solidFill>
                  <a:srgbClr val="595959"/>
                </a:solidFill>
                <a:latin typeface="Times New Roman"/>
              </a:rPr>
              <a:t>млн 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0" y="2313432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2313432"/>
            <a:ext cx="138303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01010"/>
                </a:solidFill>
                <a:latin typeface="Times New Roman"/>
              </a:rPr>
              <a:t>Полная экономия/мес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8150" y="2313432"/>
            <a:ext cx="108585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200" b="1" i="0">
                <a:solidFill>
                  <a:srgbClr val="17365D"/>
                </a:solidFill>
                <a:latin typeface="Times New Roman"/>
              </a:rPr>
              <a:t>до 12,9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889504"/>
            <a:ext cx="457200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/>
            <a:r>
              <a:rPr sz="900" b="0" i="1">
                <a:solidFill>
                  <a:srgbClr val="595959"/>
                </a:solidFill>
                <a:latin typeface="Times New Roman"/>
              </a:rPr>
              <a:t>млн 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81160" y="2313432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2313432"/>
            <a:ext cx="138303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01010"/>
                </a:solidFill>
                <a:latin typeface="Times New Roman"/>
              </a:rPr>
              <a:t>NPV (5 лет)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4190" y="2313432"/>
            <a:ext cx="108585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200" b="1" i="0">
                <a:solidFill>
                  <a:srgbClr val="17365D"/>
                </a:solidFill>
                <a:latin typeface="Times New Roman"/>
              </a:rPr>
              <a:t>&gt;112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2889504"/>
            <a:ext cx="457200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/>
            <a:r>
              <a:rPr sz="900" b="0" i="1">
                <a:solidFill>
                  <a:srgbClr val="595959"/>
                </a:solidFill>
                <a:latin typeface="Times New Roman"/>
              </a:rPr>
              <a:t>млн 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0" y="3255264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0" y="3255264"/>
            <a:ext cx="138303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01010"/>
                </a:solidFill>
                <a:latin typeface="Times New Roman"/>
              </a:rPr>
              <a:t>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58150" y="3255264"/>
            <a:ext cx="108585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200" b="1" i="0">
                <a:solidFill>
                  <a:srgbClr val="17365D"/>
                </a:solidFill>
                <a:latin typeface="Times New Roman"/>
              </a:rPr>
              <a:t>19,3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831336"/>
            <a:ext cx="457200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/>
            <a:r>
              <a:rPr sz="900" b="0" i="1">
                <a:solidFill>
                  <a:srgbClr val="595959"/>
                </a:solidFill>
                <a:latin typeface="Times New Roman"/>
              </a:rPr>
              <a:t>× 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81160" y="3255264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600" y="3255264"/>
            <a:ext cx="138303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01010"/>
                </a:solidFill>
                <a:latin typeface="Times New Roman"/>
              </a:rPr>
              <a:t>Срок окупаемости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4190" y="3255264"/>
            <a:ext cx="108585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200" b="1" i="0">
                <a:solidFill>
                  <a:srgbClr val="17365D"/>
                </a:solidFill>
                <a:latin typeface="Times New Roman"/>
              </a:rPr>
              <a:t>~2,1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92840" y="3831336"/>
            <a:ext cx="457200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r"/>
            <a:r>
              <a:rPr sz="900" b="0" i="1">
                <a:solidFill>
                  <a:srgbClr val="595959"/>
                </a:solidFill>
                <a:latin typeface="Times New Roman"/>
              </a:rPr>
              <a:t>мес.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5120" y="4224528"/>
            <a:ext cx="5120640" cy="77724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0" y="4224528"/>
            <a:ext cx="4937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4 835 часов / мес.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сэкономленного рабочего времени по портфелю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5715000"/>
            <a:ext cx="1146017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Детализация по проектам (для проектора)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989320"/>
            <a:ext cx="3667256" cy="292608"/>
          </a:xfrm>
          <a:prstGeom prst="rect">
            <a:avLst/>
          </a:prstGeom>
          <a:solidFill>
            <a:srgbClr val="17365D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Проект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33016" y="5989320"/>
            <a:ext cx="1489822" cy="292608"/>
          </a:xfrm>
          <a:prstGeom prst="rect">
            <a:avLst/>
          </a:prstGeom>
          <a:solidFill>
            <a:srgbClr val="17365D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Инв., млн 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22838" y="5989320"/>
            <a:ext cx="2062831" cy="292608"/>
          </a:xfrm>
          <a:prstGeom prst="rect">
            <a:avLst/>
          </a:prstGeom>
          <a:solidFill>
            <a:srgbClr val="17365D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Эконом./мес, млн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85670" y="5989320"/>
            <a:ext cx="1260619" cy="292608"/>
          </a:xfrm>
          <a:prstGeom prst="rect">
            <a:avLst/>
          </a:prstGeom>
          <a:solidFill>
            <a:srgbClr val="17365D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PP, мес.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46289" y="5989320"/>
            <a:ext cx="1489822" cy="292608"/>
          </a:xfrm>
          <a:prstGeom prst="rect">
            <a:avLst/>
          </a:prstGeom>
          <a:solidFill>
            <a:srgbClr val="17365D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NPV, млн 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36112" y="5989320"/>
            <a:ext cx="1489822" cy="292608"/>
          </a:xfrm>
          <a:prstGeom prst="rect">
            <a:avLst/>
          </a:prstGeom>
          <a:solidFill>
            <a:srgbClr val="17365D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PI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126480"/>
            <a:ext cx="3667256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 i="0">
                <a:solidFill>
                  <a:srgbClr val="101010"/>
                </a:solidFill>
                <a:latin typeface="Times New Roman"/>
              </a:rPr>
              <a:t>Согласование смет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33016" y="6126480"/>
            <a:ext cx="1489822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2,92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22838" y="6126480"/>
            <a:ext cx="2062831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0,23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85670" y="6126480"/>
            <a:ext cx="1260619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12,7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46289" y="6126480"/>
            <a:ext cx="1489822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6,55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6112" y="6126480"/>
            <a:ext cx="1489822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3,25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263640"/>
            <a:ext cx="3667256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 i="0">
                <a:solidFill>
                  <a:srgbClr val="101010"/>
                </a:solidFill>
                <a:latin typeface="Times New Roman"/>
              </a:rPr>
              <a:t>База цен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33016" y="626364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1,90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838" y="6263640"/>
            <a:ext cx="2062831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0,425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85670" y="6263640"/>
            <a:ext cx="1260619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4,5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46289" y="626364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15,6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6112" y="626364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9,2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400800"/>
            <a:ext cx="3667256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 i="0">
                <a:solidFill>
                  <a:srgbClr val="101010"/>
                </a:solidFill>
                <a:latin typeface="Times New Roman"/>
              </a:rPr>
              <a:t>Регламент КП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33016" y="6400800"/>
            <a:ext cx="1489822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0,54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22838" y="6400800"/>
            <a:ext cx="2062831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операционный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5670" y="6400800"/>
            <a:ext cx="1260619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46289" y="6400800"/>
            <a:ext cx="1489822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36112" y="6400800"/>
            <a:ext cx="1489822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6537960"/>
            <a:ext cx="3667256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0" i="0">
                <a:solidFill>
                  <a:srgbClr val="101010"/>
                </a:solidFill>
                <a:latin typeface="Times New Roman"/>
              </a:rPr>
              <a:t>Документооборот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33016" y="653796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0,81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22838" y="6537960"/>
            <a:ext cx="2062831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2,235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85670" y="6537960"/>
            <a:ext cx="1260619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0,4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46289" y="653796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91,2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336112" y="653796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101010"/>
                </a:solidFill>
                <a:latin typeface="Times New Roman"/>
              </a:rPr>
              <a:t>113,6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6675120"/>
            <a:ext cx="3667256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 i="0">
                <a:solidFill>
                  <a:srgbClr val="17365D"/>
                </a:solidFill>
                <a:latin typeface="Times New Roman"/>
              </a:rPr>
              <a:t>ИТОГО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033016" y="667512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7365D"/>
                </a:solidFill>
                <a:latin typeface="Times New Roman"/>
              </a:rPr>
              <a:t>6,17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2838" y="6675120"/>
            <a:ext cx="2062831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7365D"/>
                </a:solidFill>
                <a:latin typeface="Times New Roman"/>
              </a:rPr>
              <a:t>2,89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85670" y="6675120"/>
            <a:ext cx="1260619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7365D"/>
                </a:solidFill>
                <a:latin typeface="Times New Roman"/>
              </a:rPr>
              <a:t>≈2,1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46289" y="667512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7365D"/>
                </a:solidFill>
                <a:latin typeface="Times New Roman"/>
              </a:rPr>
              <a:t>112,9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36112" y="6675120"/>
            <a:ext cx="1489822" cy="292608"/>
          </a:xfrm>
          <a:prstGeom prst="rect">
            <a:avLst/>
          </a:prstGeom>
          <a:solidFill>
            <a:srgbClr val="E7EBF1"/>
          </a:solidFill>
          <a:ln w="508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7365D"/>
                </a:solidFill>
                <a:latin typeface="Times New Roman"/>
              </a:rPr>
              <a:t>19,3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6017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Times New Roman"/>
              </a:rPr>
              <a:t>ВЫВОДЫ ПО РАБОТЕ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711696"/>
            <a:ext cx="822960" cy="146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Times New Roman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ГЛАВА 1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Теория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005840"/>
            <a:ext cx="8991295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Для девелопмента оптимально сочетание BPMN 2.0 + Stormbpmn (импортозамещение, реестр Минцифры).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57400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2E5A8C"/>
          </a:solidFill>
          <a:ln w="9525">
            <a:solidFill>
              <a:srgbClr val="2E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ГЛАВА 2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Отрасль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057400"/>
            <a:ext cx="8991295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РФ в стагнации; РТ +8% — рекорд. Доля федералов в Казани выросла с 18% до 32% — конкуренция требует процессной зрелости.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108960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C0504D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ГЛАВА 3 ▸ ПРОБЛЕМЫ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Диагностика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3108960"/>
            <a:ext cx="8991295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В АО «Унистрой» выявлено 4 «узких места»: ручное согласование, децентрализованная база цен, отсутствие гарантии закупки, разорванный документооборот.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160520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3F884A"/>
          </a:solidFill>
          <a:ln w="9525">
            <a:solidFill>
              <a:srgbClr val="3F8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ГЛАВА 3 ▸ РЕШЕНИЯ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Эффективность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4160520"/>
            <a:ext cx="8991295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3F8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Портфель из 4 проектов: инвестиции 6,17 млн ₽ → экономия до 12,9 млн ₽/мес, NPV &gt;112 млн ₽, PI = 19,3.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5212080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17365D"/>
          </a:solidFill>
          <a:ln w="9525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ГЛАВА 3 ▸ ЗНАЧИМОСТЬ</a:t>
            </a:r>
          </a:p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Тиражируемость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5212080"/>
            <a:ext cx="8991295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7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/>
            <a:r>
              <a:rPr sz="1300" b="0" i="0">
                <a:solidFill>
                  <a:srgbClr val="101010"/>
                </a:solidFill>
                <a:latin typeface="Times New Roman"/>
              </a:rPr>
              <a:t>Решения тиражируемы на других застройщиков отрасли — практическая значимость работы подтверждена.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4572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822960"/>
            <a:ext cx="4572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8720" y="822960"/>
            <a:ext cx="4572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23015" y="822960"/>
            <a:ext cx="4572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40135" y="822960"/>
            <a:ext cx="4572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7255" y="822960"/>
            <a:ext cx="4572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Times New Roman"/>
              </a:rPr>
              <a:t>СПАСИБО ЗА ВНИМАНИЕ!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  <a:latin typeface="Times New Roman"/>
              </a:rPr>
              <a:t>Готов(а) ответить на вопросы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36289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Times New Roman"/>
              </a:rPr>
              <a:t>АО «Унистрой» · Казань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