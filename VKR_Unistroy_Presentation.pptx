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79" r:id="rId5"/>
    <p:sldId id="281" r:id="rId6"/>
    <p:sldId id="282" r:id="rId7"/>
    <p:sldId id="283" r:id="rId8"/>
    <p:sldId id="284" r:id="rId9"/>
    <p:sldId id="280" r:id="rId10"/>
    <p:sldId id="27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3077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f0MoI7WtcNSt+DHMGVizH6/gV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94"/>
  </p:normalViewPr>
  <p:slideViewPr>
    <p:cSldViewPr snapToGrid="0">
      <p:cViewPr varScale="1">
        <p:scale>
          <a:sx n="79" d="100"/>
          <a:sy n="79" d="100"/>
        </p:scale>
        <p:origin x="848" y="48"/>
      </p:cViewPr>
      <p:guideLst>
        <p:guide orient="horz" pos="1620"/>
        <p:guide pos="2880"/>
        <p:guide pos="30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501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31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1E42EAF-3BD1-EBAB-F6D7-CCAFF00D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90268D2C-7601-447C-9C46-581FF906D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A83C802E-7ED7-2CE4-D7F0-07C4AB388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074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020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041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24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113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97" y="-7082"/>
            <a:ext cx="9144793" cy="515766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71499" y="2468884"/>
            <a:ext cx="9001000" cy="108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rPr sz="2200" b="1">
                <a:solidFill>
                  <a:srgbClr val="FFFFFF"/>
                </a:solidFill>
                <a:latin typeface="PT Sans"/>
              </a:rPr>
              <a:t>МОДЕЛИРОВАНИЕ И ОПТИМИЗАЦИЯ БИЗНЕС-ПРОЦЕССОВ</a:t>
            </a:r>
            <a:endParaRPr sz="2800" b="1" dirty="0">
              <a:solidFill>
                <a:schemeClr val="lt1"/>
              </a:solidFill>
              <a:latin typeface="PT Sans" pitchFamily="34" charset="-52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PT Sans"/>
              </a:rPr>
              <a:t>В ДЕВЕЛОПЕРСКОЙ КОМПАНИИ</a:t>
            </a:r>
          </a:p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PT Sans"/>
              </a:rPr>
              <a:t>(на примере АО «УНИСТРОЙ»)</a:t>
            </a: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403648" y="163769"/>
            <a:ext cx="6336702" cy="2844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</a:pP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МИНИСТЕРСТВО НАУКИ И ВЫСШЕГО ОБРАЗОВАНИЯ 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РОССИЙСКОЙ ФЕДЕРАЦИИ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 ВЫСШЕГО ОБРАЗОВАНИЯ 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«КАЗАНСКИЙ (ПРИВОЛЖСКИЙ) ФЕДЕРАЛЬНЫЙ УНИВЕРСИТЕТ» </a:t>
            </a:r>
            <a:endParaRPr dirty="0">
              <a:latin typeface="PT Sans" pitchFamily="34" charset="-52"/>
            </a:endParaRPr>
          </a:p>
          <a:p>
            <a:pPr marL="0" lvl="0" indent="0" algn="ctr" rtl="0">
              <a:spcBef>
                <a:spcPts val="26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</a:pPr>
            <a:br>
              <a:rPr lang="ru-RU" sz="8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 ИНСТИТУТ УПРАВЛЕНИЯ, ЭКОНОМИКИ И ФИНАНСОВ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КАФЕДРА ИННОВАЦИЙ И ИНВЕСТИЦИЙ</a:t>
            </a:r>
            <a:br>
              <a:rPr lang="ru-RU" sz="13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-RU" sz="8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Направление подготовки: 38.03.02 «Менеджмент»</a:t>
            </a:r>
            <a:b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</a:br>
            <a:r>
              <a:rPr lang="ru-RU" sz="1300" b="1" dirty="0">
                <a:solidFill>
                  <a:schemeClr val="lt1"/>
                </a:solidFill>
                <a:latin typeface="PT Sans" pitchFamily="34" charset="-52"/>
                <a:ea typeface="Times New Roman"/>
                <a:cs typeface="Times New Roman"/>
                <a:sym typeface="Times New Roman"/>
              </a:rPr>
              <a:t>Профиль: Бизнес-аналитика в управленческой деятельности</a:t>
            </a:r>
            <a:endParaRPr sz="1300" b="1" dirty="0">
              <a:solidFill>
                <a:schemeClr val="lt1"/>
              </a:solidFill>
              <a:latin typeface="PT Sans" pitchFamily="34" charset="-52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331640" y="2355727"/>
            <a:ext cx="6516727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92" name="Google Shape;92;p1"/>
          <p:cNvSpPr txBox="1"/>
          <p:nvPr/>
        </p:nvSpPr>
        <p:spPr>
          <a:xfrm>
            <a:off x="5688123" y="3600820"/>
            <a:ext cx="324036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PT Sans"/>
              </a:rPr>
              <a:t>ФИО: ___________________________</a:t>
            </a:r>
            <a:endParaRPr b="1" dirty="0">
              <a:latin typeface="PT Sans" pitchFamily="34" charset="-52"/>
            </a:endParaRP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Группа: ___________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Научный руководитель: ___________________________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3000363" y="4616483"/>
            <a:ext cx="314327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FFFFFF"/>
                </a:solidFill>
                <a:latin typeface="PT Sans"/>
              </a:rPr>
              <a:t>Казань – 2026</a:t>
            </a:r>
            <a:endParaRPr dirty="0">
              <a:latin typeface="PT Sans" pitchFamily="34" charset="-5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АКТУАЛЬНОСТЬ</a:t>
            </a:r>
            <a:endParaRPr dirty="0">
              <a:latin typeface="PT Sans" pitchFamily="34" charset="-52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Номер слайда 7"/>
          <p:cNvSpPr>
            <a:spLocks noGrp="1"/>
          </p:cNvSpPr>
          <p:nvPr>
            <p:ph type="sldNum" idx="12"/>
          </p:nvPr>
        </p:nvSpPr>
        <p:spPr>
          <a:xfrm>
            <a:off x="-590001" y="4749496"/>
            <a:ext cx="2133600" cy="27384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1005840" y="914400"/>
            <a:ext cx="1532534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05840" y="914400"/>
            <a:ext cx="1532534" cy="274320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#1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5840" y="1280160"/>
            <a:ext cx="1532534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7365D"/>
                </a:solidFill>
                <a:latin typeface="PT Sans"/>
              </a:rPr>
              <a:t>+2,5%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" y="2194560"/>
            <a:ext cx="1532534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8288" bIns="18288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рост строительной отрасли РФ
(2025 г.; в 2023 — +7,4%)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2629814" y="914400"/>
            <a:ext cx="1532534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2629814" y="914400"/>
            <a:ext cx="1532534" cy="274320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#2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29814" y="1280160"/>
            <a:ext cx="1532534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7365D"/>
                </a:solidFill>
                <a:latin typeface="PT Sans"/>
              </a:rPr>
              <a:t>14,5%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29814" y="2194560"/>
            <a:ext cx="1532534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8288" bIns="18288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ключевая ставка ЦБ
→ ипотека до 24,9%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253788" y="914400"/>
            <a:ext cx="1532534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253788" y="914400"/>
            <a:ext cx="1532534" cy="274320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#3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53788" y="1280160"/>
            <a:ext cx="1532534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7365D"/>
                </a:solidFill>
                <a:latin typeface="PT Sans"/>
              </a:rPr>
              <a:t>−29%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53788" y="2194560"/>
            <a:ext cx="1532534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8288" bIns="18288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выдачи ипотеки
в Республике Татарстан, 2025 г.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5877762" y="914400"/>
            <a:ext cx="1532534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877762" y="914400"/>
            <a:ext cx="1532534" cy="274320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#4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877762" y="1280160"/>
            <a:ext cx="1532534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7365D"/>
                </a:solidFill>
                <a:latin typeface="PT Sans"/>
              </a:rPr>
              <a:t>149,6%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77762" y="2194560"/>
            <a:ext cx="1532534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8288" bIns="18288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незавершённое строительство
к годовому вводу жилья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7501736" y="914400"/>
            <a:ext cx="1532534" cy="2514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501736" y="914400"/>
            <a:ext cx="1532534" cy="274320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#5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501736" y="1280160"/>
            <a:ext cx="1532534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7365D"/>
                </a:solidFill>
                <a:latin typeface="PT Sans"/>
              </a:rPr>
              <a:t>30–60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501736" y="2194560"/>
            <a:ext cx="1532534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18288" bIns="18288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минут в день — потери сотрудника
от ручной работы между системами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05840" y="3566160"/>
            <a:ext cx="8028431" cy="411480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T Sans"/>
              </a:rPr>
              <a:t>Девелоперам нужны прозрачные и оптимизированные бизнес-процессы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/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ЦЕЛЬ И ЗАДАЧИ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3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1005840" y="868680"/>
            <a:ext cx="1005840" cy="868680"/>
          </a:xfrm>
          <a:prstGeom prst="roundRect">
            <a:avLst>
              <a:gd name="adj" fmla="val 75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PT Sans"/>
              </a:rPr>
              <a:t>ЦЕЛЬ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084832" y="868680"/>
            <a:ext cx="6949439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wrap="square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00000"/>
                </a:solidFill>
                <a:latin typeface="PT Sans"/>
              </a:rPr>
              <a:t>Изучение теоретических основ моделирования и оптимизации бизнес-процессов в девелопменте и их практическое применение в деятельности АО «Унистрой»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005840" y="1920240"/>
            <a:ext cx="1532534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488643" y="1645920"/>
            <a:ext cx="566928" cy="566928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1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05840" y="2331720"/>
            <a:ext cx="1532534" cy="1920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Систематизировать теоретические подходы
к моделированию бизнес-процессов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629814" y="1920240"/>
            <a:ext cx="1532534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112617" y="1645920"/>
            <a:ext cx="566928" cy="566928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2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629814" y="2331720"/>
            <a:ext cx="1532534" cy="1920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Проанализировать строительную отрасль РФ
и Республики Татарстан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253788" y="1920240"/>
            <a:ext cx="1532534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736591" y="1645920"/>
            <a:ext cx="566928" cy="566928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3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253788" y="2331720"/>
            <a:ext cx="1532534" cy="1920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Дать организационно-экономическую
характеристику АО «Унистрой»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877762" y="1920240"/>
            <a:ext cx="1532534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60565" y="1645920"/>
            <a:ext cx="566928" cy="566928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877762" y="2331720"/>
            <a:ext cx="1532534" cy="1920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Провести диагностику бизнес-процессов
и выявить «узкие места»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501736" y="1920240"/>
            <a:ext cx="1532534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984539" y="1645920"/>
            <a:ext cx="566928" cy="566928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501736" y="2331720"/>
            <a:ext cx="1532534" cy="1920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Разработать решения по оптимизации
и оценить их эффективность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/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РЕЗУЛЬТАТЫ ПО ЗАДАЧЕ 1 · ТЕОРЕТИЧЕСКИЕ ОСНОВЫ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4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5" name="Rectangle 124"/>
          <p:cNvSpPr/>
          <p:nvPr/>
        </p:nvSpPr>
        <p:spPr>
          <a:xfrm>
            <a:off x="1005840" y="914400"/>
            <a:ext cx="3840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БИЗНЕС-ПРОЦЕСС: ВХОДЫ → ПРОЦЕСС → ВЫХОДЫ</a:t>
            </a:r>
          </a:p>
        </p:txBody>
      </p:sp>
      <p:sp>
        <p:nvSpPr>
          <p:cNvPr id="126" name="Chevron 125"/>
          <p:cNvSpPr/>
          <p:nvPr/>
        </p:nvSpPr>
        <p:spPr>
          <a:xfrm>
            <a:off x="1005840" y="1234440"/>
            <a:ext cx="1188720" cy="502920"/>
          </a:xfrm>
          <a:prstGeom prst="chevron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ВХОДЫ</a:t>
            </a:r>
          </a:p>
        </p:txBody>
      </p:sp>
      <p:sp>
        <p:nvSpPr>
          <p:cNvPr id="127" name="Chevron 126"/>
          <p:cNvSpPr/>
          <p:nvPr/>
        </p:nvSpPr>
        <p:spPr>
          <a:xfrm>
            <a:off x="2240280" y="1234440"/>
            <a:ext cx="1188720" cy="502920"/>
          </a:xfrm>
          <a:prstGeom prst="chevron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ПРОЦЕСС</a:t>
            </a:r>
          </a:p>
        </p:txBody>
      </p:sp>
      <p:sp>
        <p:nvSpPr>
          <p:cNvPr id="128" name="Chevron 127"/>
          <p:cNvSpPr/>
          <p:nvPr/>
        </p:nvSpPr>
        <p:spPr>
          <a:xfrm>
            <a:off x="3474720" y="1234440"/>
            <a:ext cx="1188720" cy="502920"/>
          </a:xfrm>
          <a:prstGeom prst="chevron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ВЫХОДЫ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05840" y="1188720"/>
            <a:ext cx="374903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PT Sans"/>
              </a:rPr>
              <a:t>↑ управление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5840" y="1755648"/>
            <a:ext cx="374903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PT Sans"/>
              </a:rPr>
              <a:t>↓ исполнители и ресурсы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029200" y="914400"/>
            <a:ext cx="40050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КЛАССИФИКАЦИЯ ПРОЦЕССОВ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029200" y="1234440"/>
            <a:ext cx="1274064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029200" y="1234440"/>
            <a:ext cx="1274064" cy="2743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T Sans"/>
              </a:rPr>
              <a:t>ОСНОВНЫЕ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29200" y="1527048"/>
            <a:ext cx="127406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ценность для клиента
(проектирование, стройка, продажи)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394704" y="1234440"/>
            <a:ext cx="1274064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394704" y="1234440"/>
            <a:ext cx="1274064" cy="2743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T Sans"/>
              </a:rPr>
              <a:t>ВСПОМОГАТЕЛЬНЫЕ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394704" y="1527048"/>
            <a:ext cx="127406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поддержка
(HR, юристы, IT)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760208" y="1234440"/>
            <a:ext cx="1274064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760208" y="1234440"/>
            <a:ext cx="1274064" cy="2743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T Sans"/>
              </a:rPr>
              <a:t>УПРАВЛЕНЧЕСКИЕ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760208" y="1527048"/>
            <a:ext cx="127406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координация
(бюджет, стратегия)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05840" y="2697480"/>
            <a:ext cx="48463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СРАВНЕНИЕ НОТАЦИЙ МОДЕЛИРОВАНИЯ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05840" y="2990088"/>
            <a:ext cx="1188720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PT Sans"/>
              </a:rPr>
              <a:t>Нотация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194560" y="2990088"/>
            <a:ext cx="1188720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PT Sans"/>
              </a:rPr>
              <a:t>Уровень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383280" y="2990088"/>
            <a:ext cx="2468880" cy="36576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PT Sans"/>
              </a:rPr>
              <a:t>Сильная сторона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05840" y="3355848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PT Sans"/>
              </a:rPr>
              <a:t>IDEF0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194560" y="3355848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верхний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383280" y="3355848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архитектура функций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05840" y="3721608"/>
            <a:ext cx="118872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PT Sans"/>
              </a:rPr>
              <a:t>BPMN 2.0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94560" y="3721608"/>
            <a:ext cx="118872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детальный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383280" y="3721608"/>
            <a:ext cx="2468880" cy="365760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логика, ветвления, ответственность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5840" y="4087368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00000"/>
                </a:solidFill>
                <a:latin typeface="PT Sans"/>
              </a:rPr>
              <a:t>EPC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194560" y="4087368"/>
            <a:ext cx="11887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средний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383280" y="4087368"/>
            <a:ext cx="24688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цепочка «событие → функция»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989320" y="2697480"/>
            <a:ext cx="3017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ИНСТРУМЕНТЫ МОДЕЛИРОВАНИЯ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989320" y="301752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ARIS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543800" y="301752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Bizagi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989320" y="36118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MS Visio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543800" y="3611880"/>
            <a:ext cx="1463040" cy="502920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Stormbpmn ★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989320" y="4206240"/>
            <a:ext cx="301752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PT Sans"/>
              </a:rPr>
              <a:t>★ — отечественное решение, реестр Минцифры</a:t>
            </a:r>
          </a:p>
        </p:txBody>
      </p:sp>
    </p:spTree>
    <p:extLst>
      <p:ext uri="{BB962C8B-B14F-4D97-AF65-F5344CB8AC3E}">
        <p14:creationId xmlns:p14="http://schemas.microsoft.com/office/powerpoint/2010/main" val="2414681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654DBB99-0041-81DC-EA32-364023B5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D0431820-259B-6A50-55C7-2BF07FA3C6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46BE5F27-4E0F-B565-884D-23AA9EA802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DD0F9BB5-8582-78F1-DAD2-56DB6BC82E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РЕЗУЛЬТАТЫ ПО ЗАДАЧЕ 2 · АНАЛИЗ ОТРАСЛИ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12458411-1D60-5D85-DC89-8BCC49AFBBF3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5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6BB5FD5-1A2A-10F6-EABB-5DFE931E3F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1005840" y="86868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РФ · 2025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05840" y="1234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05840" y="1234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7365D"/>
                </a:solidFill>
                <a:latin typeface="PT Sans"/>
              </a:rPr>
              <a:t>18,82 трлн ₽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05840" y="1691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объём работ
(+2,5% г/г)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035807" y="1234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035807" y="1234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7365D"/>
                </a:solidFill>
                <a:latin typeface="PT Sans"/>
              </a:rPr>
              <a:t>108,1 млн м²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035807" y="1691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ввод жилья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065774" y="1234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065774" y="1234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7365D"/>
                </a:solidFill>
                <a:latin typeface="PT Sans"/>
              </a:rPr>
              <a:t>31–32%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65774" y="1691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распроданность
строящихся домов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095741" y="1234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095741" y="1234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7365D"/>
                </a:solidFill>
                <a:latin typeface="PT Sans"/>
              </a:rPr>
              <a:t>−29%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095741" y="1691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выдачи ипотеки
к 2024 г.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005840" y="2011680"/>
            <a:ext cx="1371600" cy="292608"/>
          </a:xfrm>
          <a:prstGeom prst="roundRect">
            <a:avLst>
              <a:gd name="adj" fmla="val 1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ТАТАРСТАН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05840" y="2377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05840" y="2377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7365D"/>
                </a:solidFill>
                <a:latin typeface="PT Sans"/>
              </a:rPr>
              <a:t>3,515 млн м²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05840" y="2834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ввод жилья (+8% — рекорд)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035807" y="2377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3035807" y="2377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7365D"/>
                </a:solidFill>
                <a:latin typeface="PT Sans"/>
              </a:rPr>
              <a:t>265 тыс ₽/м²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035807" y="2834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новостройки Казани
(×1,5 за 3 года)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065774" y="2377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065774" y="2377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7365D"/>
                </a:solidFill>
                <a:latin typeface="PT Sans"/>
              </a:rPr>
              <a:t>18% → 32%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65774" y="2834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доля федеральных
игроков в Казани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095741" y="2377440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095741" y="2377440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7365D"/>
                </a:solidFill>
                <a:latin typeface="PT Sans"/>
              </a:rPr>
              <a:t>49 место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095741" y="2834640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доступность жилья
(РТ в РФ)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05840" y="3246120"/>
            <a:ext cx="802843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ЖИЗНЕННЫЙ ЦИКЛ ДЕВЕЛОПЕРСКОГО ПРОЕКТА</a:t>
            </a:r>
          </a:p>
        </p:txBody>
      </p:sp>
      <p:sp>
        <p:nvSpPr>
          <p:cNvPr id="152" name="Chevron 151"/>
          <p:cNvSpPr/>
          <p:nvPr/>
        </p:nvSpPr>
        <p:spPr>
          <a:xfrm>
            <a:off x="1005840" y="3538728"/>
            <a:ext cx="1576425" cy="457200"/>
          </a:xfrm>
          <a:prstGeom prst="chevron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Инициация</a:t>
            </a:r>
          </a:p>
        </p:txBody>
      </p:sp>
      <p:sp>
        <p:nvSpPr>
          <p:cNvPr id="153" name="Chevron 152"/>
          <p:cNvSpPr/>
          <p:nvPr/>
        </p:nvSpPr>
        <p:spPr>
          <a:xfrm>
            <a:off x="2618841" y="3538728"/>
            <a:ext cx="1576425" cy="457200"/>
          </a:xfrm>
          <a:prstGeom prst="chevron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Проектирование</a:t>
            </a:r>
          </a:p>
        </p:txBody>
      </p:sp>
      <p:sp>
        <p:nvSpPr>
          <p:cNvPr id="154" name="Chevron 153"/>
          <p:cNvSpPr/>
          <p:nvPr/>
        </p:nvSpPr>
        <p:spPr>
          <a:xfrm>
            <a:off x="4231842" y="3538728"/>
            <a:ext cx="1576425" cy="457200"/>
          </a:xfrm>
          <a:prstGeom prst="chevron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Стройка</a:t>
            </a:r>
          </a:p>
        </p:txBody>
      </p:sp>
      <p:sp>
        <p:nvSpPr>
          <p:cNvPr id="155" name="Chevron 154"/>
          <p:cNvSpPr/>
          <p:nvPr/>
        </p:nvSpPr>
        <p:spPr>
          <a:xfrm>
            <a:off x="5844843" y="3538728"/>
            <a:ext cx="1576425" cy="457200"/>
          </a:xfrm>
          <a:prstGeom prst="chevron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Продажи</a:t>
            </a:r>
          </a:p>
        </p:txBody>
      </p:sp>
      <p:sp>
        <p:nvSpPr>
          <p:cNvPr id="156" name="Chevron 155"/>
          <p:cNvSpPr/>
          <p:nvPr/>
        </p:nvSpPr>
        <p:spPr>
          <a:xfrm>
            <a:off x="7457844" y="3538728"/>
            <a:ext cx="1576425" cy="457200"/>
          </a:xfrm>
          <a:prstGeom prst="chevron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Ввод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05840" y="4160520"/>
            <a:ext cx="8028431" cy="384048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Драйверы: BIM · ИИ · цифровые двойники · BPMS  →  процессная зрелость = конкурентное преимущество</a:t>
            </a:r>
          </a:p>
        </p:txBody>
      </p:sp>
    </p:spTree>
    <p:extLst>
      <p:ext uri="{BB962C8B-B14F-4D97-AF65-F5344CB8AC3E}">
        <p14:creationId xmlns:p14="http://schemas.microsoft.com/office/powerpoint/2010/main" val="1442083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AAAD11C2-37A6-9D20-EA7B-519162F13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РЕЗУЛЬТАТЫ ПО ЗАДАЧЕ 3 · ОРГАНИЗАЦИОННО-ЭКОНОМИЧЕСКАЯ ХАРАКТЕРИСТИКА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6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5" name="Rectangle 124"/>
          <p:cNvSpPr/>
          <p:nvPr/>
        </p:nvSpPr>
        <p:spPr>
          <a:xfrm>
            <a:off x="1005840" y="868680"/>
            <a:ext cx="802843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ВИЗИТКА КОМПАНИИ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05840" y="1161288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05840" y="1161288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1996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05840" y="1618488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год основания
бренд «Унистрой» в G-Group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035807" y="1161288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035807" y="1161288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8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035807" y="1618488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городов присутствия
(Казань, СПб, Екатеринбург и др.)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065774" y="1161288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065774" y="1161288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2,4 млн м²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065774" y="1618488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построено · 42 тыс. семей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095741" y="1161288"/>
            <a:ext cx="1938527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095741" y="1161288"/>
            <a:ext cx="1938527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&gt;400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095741" y="1618488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 tIns="18288" bIns="18288" wrap="square"/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000000"/>
                </a:solidFill>
                <a:latin typeface="PT Sans"/>
              </a:rPr>
              <a:t>сотрудников
(271 — управляющая компания)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5840" y="2240280"/>
            <a:ext cx="802843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ФИНАНСОВЫЕ ПОКАЗАТЕЛИ · 2025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005840" y="2532888"/>
            <a:ext cx="1938527" cy="1188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005840" y="2532888"/>
            <a:ext cx="1938527" cy="2743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Выручка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05840" y="2825496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43,9 млрд ₽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05840" y="3355848"/>
            <a:ext cx="1938527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70AD47"/>
                </a:solidFill>
                <a:latin typeface="PT Sans"/>
              </a:rPr>
              <a:t>▲ +26%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035807" y="2532888"/>
            <a:ext cx="1938527" cy="1188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035807" y="2532888"/>
            <a:ext cx="1938527" cy="2743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EBITDA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035807" y="2825496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11,1 млрд ₽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035807" y="3355848"/>
            <a:ext cx="1938527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C0504D"/>
                </a:solidFill>
                <a:latin typeface="PT Sans"/>
              </a:rPr>
              <a:t>рент. 25,2% ▼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065774" y="2532888"/>
            <a:ext cx="1938527" cy="1188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065774" y="2532888"/>
            <a:ext cx="1938527" cy="2743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Чистая прибыль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065774" y="2825496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2,4 млрд ₽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065774" y="3355848"/>
            <a:ext cx="1938527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C0504D"/>
                </a:solidFill>
                <a:latin typeface="PT Sans"/>
              </a:rPr>
              <a:t>▼ −47%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7095741" y="2532888"/>
            <a:ext cx="1938527" cy="118872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095741" y="2532888"/>
            <a:ext cx="1938527" cy="2743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Долг / EBITDA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095741" y="2825496"/>
            <a:ext cx="1938527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7365D"/>
                </a:solidFill>
                <a:latin typeface="PT Sans"/>
              </a:rPr>
              <a:t>2,79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095741" y="3355848"/>
            <a:ext cx="1938527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C0504D"/>
                </a:solidFill>
                <a:latin typeface="PT Sans"/>
              </a:rPr>
              <a:t>▲ выше нормы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05840" y="3840480"/>
            <a:ext cx="8028431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ПОЗИЦИИ НА РЫНКЕ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005840" y="4133087"/>
            <a:ext cx="2615183" cy="530352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05840" y="4133087"/>
            <a:ext cx="86868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24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874520" y="4133087"/>
            <a:ext cx="1746503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PT Sans"/>
              </a:rPr>
              <a:t>место в РФ
по объёму строительства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712463" y="4133087"/>
            <a:ext cx="2615183" cy="530352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712463" y="4133087"/>
            <a:ext cx="86868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3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581143" y="4133087"/>
            <a:ext cx="1746503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PT Sans"/>
              </a:rPr>
              <a:t>место в Казани
(после «Суварстроит» и ПИК)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419086" y="4133087"/>
            <a:ext cx="2615183" cy="530352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419086" y="4133087"/>
            <a:ext cx="868680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5,0 / 5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287766" y="4133087"/>
            <a:ext cx="1746503" cy="5303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 wrap="square"/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PT Sans"/>
              </a:rPr>
              <a:t>рейтинг ЕРЗ
за соблюдение сроков</a:t>
            </a:r>
          </a:p>
        </p:txBody>
      </p:sp>
    </p:spTree>
    <p:extLst>
      <p:ext uri="{BB962C8B-B14F-4D97-AF65-F5344CB8AC3E}">
        <p14:creationId xmlns:p14="http://schemas.microsoft.com/office/powerpoint/2010/main" val="4157778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AAAD11C2-37A6-9D20-EA7B-519162F13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РЕЗУЛЬТАТЫ ПО ЗАДАЧЕ 4 · 4 «УЗКИХ МЕСТА» БИЗНЕС-ПРОЦЕССОВ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7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1005840" y="868680"/>
            <a:ext cx="3945635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05840" y="868680"/>
            <a:ext cx="3945635" cy="5029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№1 СОГЛАСОВАНИЕ СМЕТ И ПИСЕМ УДОРОЖАНИЯ ВРУЧНУЮ В EXCEL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5840" y="1417320"/>
            <a:ext cx="1657166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18288" bIns="18288" wrap="square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PT Sans"/>
              </a:rPr>
              <a:t>до 5 дней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663006" y="1417320"/>
            <a:ext cx="2288469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 bIns="18288" wrap="square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одна смета · письма удорожания — до 7 дней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088635" y="868680"/>
            <a:ext cx="3945635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088635" y="868680"/>
            <a:ext cx="3945635" cy="5029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№2 ДЕЦЕНТРАЛИЗОВАННАЯ БАЗА ЦЕН (Excel + сетевые папки)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088635" y="1417320"/>
            <a:ext cx="1657166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18288" bIns="18288" wrap="square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PT Sans"/>
              </a:rPr>
              <a:t>30 мин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745801" y="1417320"/>
            <a:ext cx="2288469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 bIns="18288" wrap="square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поиск одной позиции · экономия аналитиков 3,6%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005840" y="2560320"/>
            <a:ext cx="3945635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05840" y="2560320"/>
            <a:ext cx="3945635" cy="5029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№3 ОТСУТСТВИЕ ГАРАНТИИ ЗАКУПКИ ПРИ ЗАПРОСЕ КП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05840" y="3108960"/>
            <a:ext cx="1657166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18288" bIns="18288" wrap="square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PT Sans"/>
              </a:rPr>
              <a:t>+10–15%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663006" y="3108960"/>
            <a:ext cx="2288469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 bIns="18288" wrap="square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завышение цен · 25% отказов · 94% нарушений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088635" y="2560320"/>
            <a:ext cx="3945635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8635" y="2560320"/>
            <a:ext cx="3945635" cy="5029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wrap="square"/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№4 РАЗОРВАННЫЙ ДОКУМЕНТООБОРОТ (СБИС + 1С + бумага)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88635" y="3108960"/>
            <a:ext cx="1657166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18288" bIns="18288" wrap="square"/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PT Sans"/>
              </a:rPr>
              <a:t>30–60 мин/день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745801" y="3108960"/>
            <a:ext cx="2288469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 bIns="18288" wrap="square"/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PT Sans"/>
              </a:rPr>
              <a:t>потери на сотрудника · тысячи человеко-часов в год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05840" y="4251960"/>
            <a:ext cx="8028431" cy="365760"/>
          </a:xfrm>
          <a:prstGeom prst="roundRect">
            <a:avLst>
              <a:gd name="adj" fmla="val 10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Ручной труд  →  задержки  →  срывы поставок  →  штрафы и удорожание</a:t>
            </a:r>
          </a:p>
        </p:txBody>
      </p:sp>
    </p:spTree>
    <p:extLst>
      <p:ext uri="{BB962C8B-B14F-4D97-AF65-F5344CB8AC3E}">
        <p14:creationId xmlns:p14="http://schemas.microsoft.com/office/powerpoint/2010/main" val="289203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04AB30AA-9FC3-EFD0-7A32-32599E1DA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>
            <a:extLst>
              <a:ext uri="{FF2B5EF4-FFF2-40B4-BE49-F238E27FC236}">
                <a16:creationId xmlns:a16="http://schemas.microsoft.com/office/drawing/2014/main" id="{5D5A242F-DF79-51C0-3468-D06936B4F79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>
            <a:extLst>
              <a:ext uri="{FF2B5EF4-FFF2-40B4-BE49-F238E27FC236}">
                <a16:creationId xmlns:a16="http://schemas.microsoft.com/office/drawing/2014/main" id="{34A711DA-ABFD-4DB8-EB38-5E9E4BCEC05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>
            <a:extLst>
              <a:ext uri="{FF2B5EF4-FFF2-40B4-BE49-F238E27FC236}">
                <a16:creationId xmlns:a16="http://schemas.microsoft.com/office/drawing/2014/main" id="{AAAD11C2-37A6-9D20-EA7B-519162F13B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РЕЗУЛЬТАТЫ ПО ЗАДАЧЕ 5 · РЕШЕНИЯ И ЭКОНОМИЧЕСКАЯ ЭФФЕКТИВНОСТЬ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>
            <a:extLst>
              <a:ext uri="{FF2B5EF4-FFF2-40B4-BE49-F238E27FC236}">
                <a16:creationId xmlns:a16="http://schemas.microsoft.com/office/drawing/2014/main" id="{0A536BC6-7440-EAAE-2F4F-646E77E9F922}"/>
              </a:ext>
            </a:extLst>
          </p:cNvPr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8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C0FDF83-42F9-05CB-75A9-D202696ED7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5" name="Rectangle 124"/>
          <p:cNvSpPr/>
          <p:nvPr/>
        </p:nvSpPr>
        <p:spPr>
          <a:xfrm>
            <a:off x="1005840" y="868680"/>
            <a:ext cx="44348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ПОРТФЕЛЬ РЕШЕНИЙ</a:t>
            </a:r>
          </a:p>
        </p:txBody>
      </p:sp>
      <p:sp>
        <p:nvSpPr>
          <p:cNvPr id="126" name="Oval 125"/>
          <p:cNvSpPr/>
          <p:nvPr/>
        </p:nvSpPr>
        <p:spPr>
          <a:xfrm>
            <a:off x="1005840" y="1220724"/>
            <a:ext cx="594360" cy="594360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691640" y="1161288"/>
            <a:ext cx="37490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691640" y="1161288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 wrap="square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365D"/>
                </a:solidFill>
                <a:latin typeface="PT Sans"/>
              </a:rPr>
              <a:t>Сквозной модуль согласования смет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691640" y="1527048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1С: ДО + Stormbpmn</a:t>
            </a:r>
          </a:p>
        </p:txBody>
      </p:sp>
      <p:sp>
        <p:nvSpPr>
          <p:cNvPr id="130" name="Oval 129"/>
          <p:cNvSpPr/>
          <p:nvPr/>
        </p:nvSpPr>
        <p:spPr>
          <a:xfrm>
            <a:off x="1005840" y="2007108"/>
            <a:ext cx="594360" cy="594360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2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691640" y="1947672"/>
            <a:ext cx="37490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691640" y="1947672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 wrap="square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365D"/>
                </a:solidFill>
                <a:latin typeface="PT Sans"/>
              </a:rPr>
              <a:t>Централизованная база цен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691640" y="2313432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1С: Долстрой + API поставщиков</a:t>
            </a:r>
          </a:p>
        </p:txBody>
      </p:sp>
      <p:sp>
        <p:nvSpPr>
          <p:cNvPr id="134" name="Oval 133"/>
          <p:cNvSpPr/>
          <p:nvPr/>
        </p:nvSpPr>
        <p:spPr>
          <a:xfrm>
            <a:off x="1005840" y="2793492"/>
            <a:ext cx="594360" cy="594360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3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691640" y="2734056"/>
            <a:ext cx="37490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691640" y="2734056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 wrap="square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365D"/>
                </a:solidFill>
                <a:latin typeface="PT Sans"/>
              </a:rPr>
              <a:t>Регламент гарантированного запроса КП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691640" y="3099816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Маркет Унистрой · 2-стадийный</a:t>
            </a:r>
          </a:p>
        </p:txBody>
      </p:sp>
      <p:sp>
        <p:nvSpPr>
          <p:cNvPr id="138" name="Oval 137"/>
          <p:cNvSpPr/>
          <p:nvPr/>
        </p:nvSpPr>
        <p:spPr>
          <a:xfrm>
            <a:off x="1005840" y="3579876"/>
            <a:ext cx="594360" cy="594360"/>
          </a:xfrm>
          <a:prstGeom prst="ellipse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T Sans"/>
              </a:rPr>
              <a:t>4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691640" y="3520440"/>
            <a:ext cx="374904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691640" y="3520440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27432" wrap="square"/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7365D"/>
                </a:solidFill>
                <a:latin typeface="PT Sans"/>
              </a:rPr>
              <a:t>Унификация документооборота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691640" y="3886200"/>
            <a:ext cx="37490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0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1С: ДО + СБИС + BPM-движок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577840" y="868680"/>
            <a:ext cx="345643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7365D"/>
                </a:solidFill>
                <a:latin typeface="PT Sans"/>
              </a:rPr>
              <a:t>ЭКОНОМИЧЕСКАЯ ЭФФЕКТИВНОСТЬ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577840" y="1161288"/>
            <a:ext cx="1417320" cy="420624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6,17 млн ₽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040880" y="1161288"/>
            <a:ext cx="1993392" cy="42062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совокупные инвестиции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577840" y="1627632"/>
            <a:ext cx="1417320" cy="420624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2,89 млн ₽/мес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7040880" y="1627632"/>
            <a:ext cx="1993392" cy="42062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экономия ФОТ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577840" y="2093976"/>
            <a:ext cx="1417320" cy="420624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12,9 млн ₽/мес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040880" y="2093976"/>
            <a:ext cx="1993392" cy="42062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совокупная экономия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577840" y="2560320"/>
            <a:ext cx="1417320" cy="420624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&gt;112 млн ₽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040880" y="2560320"/>
            <a:ext cx="1993392" cy="42062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NPV (5 лет)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577840" y="3026664"/>
            <a:ext cx="1417320" cy="420624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19,3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040880" y="3026664"/>
            <a:ext cx="1993392" cy="42062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PI · индекс рентабельности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77840" y="3493008"/>
            <a:ext cx="1417320" cy="420624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≈ 2,1 мес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7040880" y="3493008"/>
            <a:ext cx="1993392" cy="42062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срок окупаемости портфеля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577840" y="3959352"/>
            <a:ext cx="1417320" cy="420624"/>
          </a:xfrm>
          <a:prstGeom prst="roundRect">
            <a:avLst>
              <a:gd name="adj" fmla="val 5000"/>
            </a:avLst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wrap="square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T Sans"/>
              </a:rPr>
              <a:t>4 835 ч/мес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040880" y="3959352"/>
            <a:ext cx="1993392" cy="420624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T Sans"/>
              </a:rPr>
              <a:t>сэкономленное время</a:t>
            </a:r>
          </a:p>
        </p:txBody>
      </p:sp>
    </p:spTree>
    <p:extLst>
      <p:ext uri="{BB962C8B-B14F-4D97-AF65-F5344CB8AC3E}">
        <p14:creationId xmlns:p14="http://schemas.microsoft.com/office/powerpoint/2010/main" val="140972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g356e7385896_0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56e7385896_0_26" descr="C:\Users\MSShafigullin\Desktop\2020\Презентация КФУ\kfu_logo_circle_ru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56e7385896_0_26"/>
          <p:cNvSpPr txBox="1">
            <a:spLocks noGrp="1"/>
          </p:cNvSpPr>
          <p:nvPr>
            <p:ph type="title"/>
          </p:nvPr>
        </p:nvSpPr>
        <p:spPr>
          <a:xfrm>
            <a:off x="1005840" y="164592"/>
            <a:ext cx="8028431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700"/>
              <a:buFont typeface="Times New Roman"/>
              <a:buNone/>
            </a:pPr>
            <a:r>
              <a:rPr sz="2400" b="1">
                <a:solidFill>
                  <a:srgbClr val="17365D"/>
                </a:solidFill>
                <a:latin typeface="PT Sans"/>
              </a:rPr>
              <a:t>ВЫВОДЫ</a:t>
            </a:r>
            <a:endParaRPr sz="2400" dirty="0">
              <a:latin typeface="PT Sans" pitchFamily="34" charset="-52"/>
            </a:endParaRPr>
          </a:p>
        </p:txBody>
      </p:sp>
      <p:sp>
        <p:nvSpPr>
          <p:cNvPr id="31" name="Номер слайда 7"/>
          <p:cNvSpPr txBox="1">
            <a:spLocks/>
          </p:cNvSpPr>
          <p:nvPr/>
        </p:nvSpPr>
        <p:spPr>
          <a:xfrm>
            <a:off x="-590001" y="474949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/>
            <a:fld id="{00000000-1234-1234-1234-123412341234}" type="slidenum">
              <a:rPr lang="ru-RU" sz="1600" b="1" smtClean="0">
                <a:solidFill>
                  <a:schemeClr val="bg1"/>
                </a:solidFill>
                <a:latin typeface="PT Sans" pitchFamily="34" charset="-52"/>
              </a:rPr>
              <a:pPr algn="ctr"/>
              <a:t>9</a:t>
            </a:fld>
            <a:endParaRPr lang="ru-RU" sz="1600" b="1" dirty="0">
              <a:solidFill>
                <a:schemeClr val="bg1"/>
              </a:solidFill>
              <a:latin typeface="PT Sans" pitchFamily="34" charset="-52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60" y="729104"/>
            <a:ext cx="773678" cy="773678"/>
          </a:xfrm>
          <a:prstGeom prst="rect">
            <a:avLst/>
          </a:prstGeom>
        </p:spPr>
      </p:pic>
      <p:sp>
        <p:nvSpPr>
          <p:cNvPr id="125" name="Rounded Rectangle 124"/>
          <p:cNvSpPr/>
          <p:nvPr/>
        </p:nvSpPr>
        <p:spPr>
          <a:xfrm>
            <a:off x="1005840" y="914400"/>
            <a:ext cx="394563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05840" y="914400"/>
            <a:ext cx="3945635" cy="34747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ГЛАВА 1 · ТЕОРИЯ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5840" y="1280160"/>
            <a:ext cx="3945635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T Sans"/>
              </a:rPr>
              <a:t>Оптимальное сочетание для девелопмента — BPMN 2.0 + Stormbpmn (импортозамещение, реестр Минцифры)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088635" y="914400"/>
            <a:ext cx="394563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088635" y="914400"/>
            <a:ext cx="3945635" cy="34747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ГЛАВА 2 · ОТРАСЛЬ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88635" y="1280160"/>
            <a:ext cx="3945635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T Sans"/>
              </a:rPr>
              <a:t>РФ в стагнации; Татарстан +8% по вводу, доля федералов в Казани 18% → 32% — конкуренция требует процессной зрелости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005840" y="2103120"/>
            <a:ext cx="394563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05840" y="2103120"/>
            <a:ext cx="3945635" cy="34747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ГЛАВА 3 · ДИАГНОСТИКА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05840" y="2468880"/>
            <a:ext cx="3945635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T Sans"/>
              </a:rPr>
              <a:t>Выявлено 4 «узких места»: 30–60 мин/день потерь на сотрудника, экономия по сметам всего 3,6%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088635" y="2103120"/>
            <a:ext cx="3945635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088635" y="2103120"/>
            <a:ext cx="3945635" cy="34747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ГЛАВА 3 · РЕШЕНИЯ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88635" y="2468880"/>
            <a:ext cx="3945635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T Sans"/>
              </a:rPr>
              <a:t>Портфель из 4 проектов: инвестиции 6,17 млн ₽, экономия до 12,9 млн ₽/мес, NPV &gt; 112 млн ₽, окупаемость ≈ 2 мес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005840" y="3291840"/>
            <a:ext cx="8028431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7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05840" y="3291840"/>
            <a:ext cx="8028431" cy="347472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T Sans"/>
              </a:rPr>
              <a:t>ПРАКТИЧЕСКАЯ ЗНАЧИМОСТЬ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05840" y="3657600"/>
            <a:ext cx="8028431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wrap="square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T Sans"/>
              </a:rPr>
              <a:t>Решения тиражируемы на других застройщиков отрасли</a:t>
            </a:r>
          </a:p>
        </p:txBody>
      </p:sp>
    </p:spTree>
    <p:extLst>
      <p:ext uri="{BB962C8B-B14F-4D97-AF65-F5344CB8AC3E}">
        <p14:creationId xmlns:p14="http://schemas.microsoft.com/office/powerpoint/2010/main" val="458392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9156096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9"/>
          <p:cNvSpPr txBox="1">
            <a:spLocks noGrp="1"/>
          </p:cNvSpPr>
          <p:nvPr>
            <p:ph type="title"/>
          </p:nvPr>
        </p:nvSpPr>
        <p:spPr>
          <a:xfrm>
            <a:off x="1551298" y="2433429"/>
            <a:ext cx="6172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Times New Roman"/>
              <a:buNone/>
            </a:pPr>
            <a:r>
              <a:rPr lang="ru-RU" b="1" dirty="0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dirty="0"/>
          </a:p>
        </p:txBody>
      </p:sp>
      <p:sp>
        <p:nvSpPr>
          <p:cNvPr id="359" name="Google Shape;359;p1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0" name="Google Shape;36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2738" y="1558275"/>
            <a:ext cx="5870625" cy="8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183" y="3249792"/>
            <a:ext cx="1043729" cy="104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112</Words>
  <Application>Microsoft Office PowerPoint</Application>
  <PresentationFormat>Экран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PT Sans</vt:lpstr>
      <vt:lpstr>Times New Roman</vt:lpstr>
      <vt:lpstr>Тема Office</vt:lpstr>
      <vt:lpstr>НАЗВАНИЕ ТЕМЫ</vt:lpstr>
      <vt:lpstr>АКТУАЛЬНОСТЬ</vt:lpstr>
      <vt:lpstr>ЦЕЛИ И ЗАДАЧИ*  *не более 5 задач</vt:lpstr>
      <vt:lpstr>РЕЗУЛЬТАТЫ ПО ЗАДАЧЕ 1</vt:lpstr>
      <vt:lpstr>РЕЗУЛЬТАТЫ ПО ЗАДАЧЕ 2</vt:lpstr>
      <vt:lpstr>РЕЗУЛЬТАТЫ ПО ЗАДАЧЕ 3</vt:lpstr>
      <vt:lpstr>РЕЗУЛЬТАТЫ ПО ЗАДАЧЕ 4</vt:lpstr>
      <vt:lpstr>РЕЗУЛЬТАТЫ ПО ЗАДАЧЕ 5</vt:lpstr>
      <vt:lpstr>ВЫВОДЫ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ГИБКАЯ МЕТОДОЛОГИЯ УПРАВЛЕНИЯ ПРОЕКТАМИ AGILE</dc:title>
  <dc:creator>Ольга</dc:creator>
  <cp:lastModifiedBy>Михаил Кузьмин</cp:lastModifiedBy>
  <cp:revision>43</cp:revision>
  <dcterms:created xsi:type="dcterms:W3CDTF">2022-06-09T15:01:43Z</dcterms:created>
  <dcterms:modified xsi:type="dcterms:W3CDTF">2026-05-08T08:03:20Z</dcterms:modified>
</cp:coreProperties>
</file>